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3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y="6858000" cx="9144000"/>
  <p:notesSz cx="9144000" cy="6858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880" orient="horz"/>
        <p:guide pos="216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p1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2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2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3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3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4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4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5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5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6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6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7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7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8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8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9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9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2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12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13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13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2"/>
          <p:cNvSpPr txBox="1"/>
          <p:nvPr>
            <p:ph type="title"/>
          </p:nvPr>
        </p:nvSpPr>
        <p:spPr>
          <a:xfrm>
            <a:off x="1367789" y="150063"/>
            <a:ext cx="4161790" cy="5124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2"/>
          <p:cNvSpPr txBox="1"/>
          <p:nvPr>
            <p:ph idx="1" type="body"/>
          </p:nvPr>
        </p:nvSpPr>
        <p:spPr>
          <a:xfrm>
            <a:off x="304901" y="1175872"/>
            <a:ext cx="8612505" cy="4657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2"/>
          <p:cNvSpPr txBox="1"/>
          <p:nvPr>
            <p:ph idx="11" type="ftr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2"/>
          <p:cNvSpPr txBox="1"/>
          <p:nvPr>
            <p:ph idx="10" type="dt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2"/>
          <p:cNvSpPr txBox="1"/>
          <p:nvPr>
            <p:ph idx="12" type="sldNum"/>
          </p:nvPr>
        </p:nvSpPr>
        <p:spPr>
          <a:xfrm>
            <a:off x="8433054" y="6466738"/>
            <a:ext cx="215900" cy="17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12700">
              <a:lnSpc>
                <a:spcPct val="103333"/>
              </a:lnSpc>
              <a:spcBef>
                <a:spcPts val="0"/>
              </a:spcBef>
              <a:buNone/>
              <a:defRPr b="1" i="0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12700">
              <a:lnSpc>
                <a:spcPct val="103333"/>
              </a:lnSpc>
              <a:spcBef>
                <a:spcPts val="0"/>
              </a:spcBef>
              <a:buNone/>
              <a:defRPr b="1" i="0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12700">
              <a:lnSpc>
                <a:spcPct val="103333"/>
              </a:lnSpc>
              <a:spcBef>
                <a:spcPts val="0"/>
              </a:spcBef>
              <a:buNone/>
              <a:defRPr b="1" i="0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2700">
              <a:lnSpc>
                <a:spcPct val="103333"/>
              </a:lnSpc>
              <a:spcBef>
                <a:spcPts val="0"/>
              </a:spcBef>
              <a:buNone/>
              <a:defRPr b="1" i="0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2700">
              <a:lnSpc>
                <a:spcPct val="103333"/>
              </a:lnSpc>
              <a:spcBef>
                <a:spcPts val="0"/>
              </a:spcBef>
              <a:buNone/>
              <a:defRPr b="1" i="0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12700">
              <a:lnSpc>
                <a:spcPct val="103333"/>
              </a:lnSpc>
              <a:spcBef>
                <a:spcPts val="0"/>
              </a:spcBef>
              <a:buNone/>
              <a:defRPr b="1" i="0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12700">
              <a:lnSpc>
                <a:spcPct val="103333"/>
              </a:lnSpc>
              <a:spcBef>
                <a:spcPts val="0"/>
              </a:spcBef>
              <a:buNone/>
              <a:defRPr b="1" i="0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12700">
              <a:lnSpc>
                <a:spcPct val="103333"/>
              </a:lnSpc>
              <a:spcBef>
                <a:spcPts val="0"/>
              </a:spcBef>
              <a:buNone/>
              <a:defRPr b="1" i="0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12700">
              <a:lnSpc>
                <a:spcPct val="103333"/>
              </a:lnSpc>
              <a:spcBef>
                <a:spcPts val="0"/>
              </a:spcBef>
              <a:buNone/>
              <a:defRPr b="1" i="0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1270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3"/>
          <p:cNvSpPr txBox="1"/>
          <p:nvPr>
            <p:ph type="title"/>
          </p:nvPr>
        </p:nvSpPr>
        <p:spPr>
          <a:xfrm>
            <a:off x="1367789" y="150063"/>
            <a:ext cx="4161790" cy="5124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3"/>
          <p:cNvSpPr txBox="1"/>
          <p:nvPr>
            <p:ph idx="11" type="ftr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3"/>
          <p:cNvSpPr txBox="1"/>
          <p:nvPr>
            <p:ph idx="10" type="dt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3"/>
          <p:cNvSpPr txBox="1"/>
          <p:nvPr>
            <p:ph idx="12" type="sldNum"/>
          </p:nvPr>
        </p:nvSpPr>
        <p:spPr>
          <a:xfrm>
            <a:off x="8433054" y="6466738"/>
            <a:ext cx="215900" cy="17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12700">
              <a:lnSpc>
                <a:spcPct val="103333"/>
              </a:lnSpc>
              <a:spcBef>
                <a:spcPts val="0"/>
              </a:spcBef>
              <a:buNone/>
              <a:defRPr b="1" i="0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12700">
              <a:lnSpc>
                <a:spcPct val="103333"/>
              </a:lnSpc>
              <a:spcBef>
                <a:spcPts val="0"/>
              </a:spcBef>
              <a:buNone/>
              <a:defRPr b="1" i="0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12700">
              <a:lnSpc>
                <a:spcPct val="103333"/>
              </a:lnSpc>
              <a:spcBef>
                <a:spcPts val="0"/>
              </a:spcBef>
              <a:buNone/>
              <a:defRPr b="1" i="0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2700">
              <a:lnSpc>
                <a:spcPct val="103333"/>
              </a:lnSpc>
              <a:spcBef>
                <a:spcPts val="0"/>
              </a:spcBef>
              <a:buNone/>
              <a:defRPr b="1" i="0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2700">
              <a:lnSpc>
                <a:spcPct val="103333"/>
              </a:lnSpc>
              <a:spcBef>
                <a:spcPts val="0"/>
              </a:spcBef>
              <a:buNone/>
              <a:defRPr b="1" i="0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12700">
              <a:lnSpc>
                <a:spcPct val="103333"/>
              </a:lnSpc>
              <a:spcBef>
                <a:spcPts val="0"/>
              </a:spcBef>
              <a:buNone/>
              <a:defRPr b="1" i="0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12700">
              <a:lnSpc>
                <a:spcPct val="103333"/>
              </a:lnSpc>
              <a:spcBef>
                <a:spcPts val="0"/>
              </a:spcBef>
              <a:buNone/>
              <a:defRPr b="1" i="0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12700">
              <a:lnSpc>
                <a:spcPct val="103333"/>
              </a:lnSpc>
              <a:spcBef>
                <a:spcPts val="0"/>
              </a:spcBef>
              <a:buNone/>
              <a:defRPr b="1" i="0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12700">
              <a:lnSpc>
                <a:spcPct val="103333"/>
              </a:lnSpc>
              <a:spcBef>
                <a:spcPts val="0"/>
              </a:spcBef>
              <a:buNone/>
              <a:defRPr b="1" i="0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1270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4"/>
          <p:cNvSpPr txBox="1"/>
          <p:nvPr>
            <p:ph type="ctrTitle"/>
          </p:nvPr>
        </p:nvSpPr>
        <p:spPr>
          <a:xfrm>
            <a:off x="685800" y="2125980"/>
            <a:ext cx="7772400" cy="14401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4"/>
          <p:cNvSpPr txBox="1"/>
          <p:nvPr>
            <p:ph idx="1" type="subTitle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4"/>
          <p:cNvSpPr txBox="1"/>
          <p:nvPr>
            <p:ph idx="11" type="ftr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4"/>
          <p:cNvSpPr txBox="1"/>
          <p:nvPr>
            <p:ph idx="10" type="dt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4"/>
          <p:cNvSpPr txBox="1"/>
          <p:nvPr>
            <p:ph idx="12" type="sldNum"/>
          </p:nvPr>
        </p:nvSpPr>
        <p:spPr>
          <a:xfrm>
            <a:off x="8433054" y="6466738"/>
            <a:ext cx="215900" cy="17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12700">
              <a:lnSpc>
                <a:spcPct val="103333"/>
              </a:lnSpc>
              <a:spcBef>
                <a:spcPts val="0"/>
              </a:spcBef>
              <a:buNone/>
              <a:defRPr b="1" i="0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12700">
              <a:lnSpc>
                <a:spcPct val="103333"/>
              </a:lnSpc>
              <a:spcBef>
                <a:spcPts val="0"/>
              </a:spcBef>
              <a:buNone/>
              <a:defRPr b="1" i="0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12700">
              <a:lnSpc>
                <a:spcPct val="103333"/>
              </a:lnSpc>
              <a:spcBef>
                <a:spcPts val="0"/>
              </a:spcBef>
              <a:buNone/>
              <a:defRPr b="1" i="0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2700">
              <a:lnSpc>
                <a:spcPct val="103333"/>
              </a:lnSpc>
              <a:spcBef>
                <a:spcPts val="0"/>
              </a:spcBef>
              <a:buNone/>
              <a:defRPr b="1" i="0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2700">
              <a:lnSpc>
                <a:spcPct val="103333"/>
              </a:lnSpc>
              <a:spcBef>
                <a:spcPts val="0"/>
              </a:spcBef>
              <a:buNone/>
              <a:defRPr b="1" i="0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12700">
              <a:lnSpc>
                <a:spcPct val="103333"/>
              </a:lnSpc>
              <a:spcBef>
                <a:spcPts val="0"/>
              </a:spcBef>
              <a:buNone/>
              <a:defRPr b="1" i="0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12700">
              <a:lnSpc>
                <a:spcPct val="103333"/>
              </a:lnSpc>
              <a:spcBef>
                <a:spcPts val="0"/>
              </a:spcBef>
              <a:buNone/>
              <a:defRPr b="1" i="0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12700">
              <a:lnSpc>
                <a:spcPct val="103333"/>
              </a:lnSpc>
              <a:spcBef>
                <a:spcPts val="0"/>
              </a:spcBef>
              <a:buNone/>
              <a:defRPr b="1" i="0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12700">
              <a:lnSpc>
                <a:spcPct val="103333"/>
              </a:lnSpc>
              <a:spcBef>
                <a:spcPts val="0"/>
              </a:spcBef>
              <a:buNone/>
              <a:defRPr b="1" i="0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1270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>
  <p:cSld name="Two Content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5"/>
          <p:cNvSpPr txBox="1"/>
          <p:nvPr>
            <p:ph type="title"/>
          </p:nvPr>
        </p:nvSpPr>
        <p:spPr>
          <a:xfrm>
            <a:off x="1367789" y="150063"/>
            <a:ext cx="4161790" cy="5124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5"/>
          <p:cNvSpPr txBox="1"/>
          <p:nvPr>
            <p:ph idx="1" type="body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5"/>
          <p:cNvSpPr txBox="1"/>
          <p:nvPr>
            <p:ph idx="2" type="body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5"/>
          <p:cNvSpPr txBox="1"/>
          <p:nvPr>
            <p:ph idx="11" type="ftr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5"/>
          <p:cNvSpPr txBox="1"/>
          <p:nvPr>
            <p:ph idx="10" type="dt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5"/>
          <p:cNvSpPr txBox="1"/>
          <p:nvPr>
            <p:ph idx="12" type="sldNum"/>
          </p:nvPr>
        </p:nvSpPr>
        <p:spPr>
          <a:xfrm>
            <a:off x="8433054" y="6466738"/>
            <a:ext cx="215900" cy="17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12700">
              <a:lnSpc>
                <a:spcPct val="103333"/>
              </a:lnSpc>
              <a:spcBef>
                <a:spcPts val="0"/>
              </a:spcBef>
              <a:buNone/>
              <a:defRPr b="1" i="0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12700">
              <a:lnSpc>
                <a:spcPct val="103333"/>
              </a:lnSpc>
              <a:spcBef>
                <a:spcPts val="0"/>
              </a:spcBef>
              <a:buNone/>
              <a:defRPr b="1" i="0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12700">
              <a:lnSpc>
                <a:spcPct val="103333"/>
              </a:lnSpc>
              <a:spcBef>
                <a:spcPts val="0"/>
              </a:spcBef>
              <a:buNone/>
              <a:defRPr b="1" i="0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2700">
              <a:lnSpc>
                <a:spcPct val="103333"/>
              </a:lnSpc>
              <a:spcBef>
                <a:spcPts val="0"/>
              </a:spcBef>
              <a:buNone/>
              <a:defRPr b="1" i="0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2700">
              <a:lnSpc>
                <a:spcPct val="103333"/>
              </a:lnSpc>
              <a:spcBef>
                <a:spcPts val="0"/>
              </a:spcBef>
              <a:buNone/>
              <a:defRPr b="1" i="0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12700">
              <a:lnSpc>
                <a:spcPct val="103333"/>
              </a:lnSpc>
              <a:spcBef>
                <a:spcPts val="0"/>
              </a:spcBef>
              <a:buNone/>
              <a:defRPr b="1" i="0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12700">
              <a:lnSpc>
                <a:spcPct val="103333"/>
              </a:lnSpc>
              <a:spcBef>
                <a:spcPts val="0"/>
              </a:spcBef>
              <a:buNone/>
              <a:defRPr b="1" i="0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12700">
              <a:lnSpc>
                <a:spcPct val="103333"/>
              </a:lnSpc>
              <a:spcBef>
                <a:spcPts val="0"/>
              </a:spcBef>
              <a:buNone/>
              <a:defRPr b="1" i="0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12700">
              <a:lnSpc>
                <a:spcPct val="103333"/>
              </a:lnSpc>
              <a:spcBef>
                <a:spcPts val="0"/>
              </a:spcBef>
              <a:buNone/>
              <a:defRPr b="1" i="0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1270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6"/>
          <p:cNvSpPr txBox="1"/>
          <p:nvPr>
            <p:ph idx="11" type="ftr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6"/>
          <p:cNvSpPr txBox="1"/>
          <p:nvPr>
            <p:ph idx="10" type="dt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6"/>
          <p:cNvSpPr txBox="1"/>
          <p:nvPr>
            <p:ph idx="12" type="sldNum"/>
          </p:nvPr>
        </p:nvSpPr>
        <p:spPr>
          <a:xfrm>
            <a:off x="8433054" y="6466738"/>
            <a:ext cx="215900" cy="17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12700">
              <a:lnSpc>
                <a:spcPct val="103333"/>
              </a:lnSpc>
              <a:spcBef>
                <a:spcPts val="0"/>
              </a:spcBef>
              <a:buNone/>
              <a:defRPr b="1" i="0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12700">
              <a:lnSpc>
                <a:spcPct val="103333"/>
              </a:lnSpc>
              <a:spcBef>
                <a:spcPts val="0"/>
              </a:spcBef>
              <a:buNone/>
              <a:defRPr b="1" i="0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12700">
              <a:lnSpc>
                <a:spcPct val="103333"/>
              </a:lnSpc>
              <a:spcBef>
                <a:spcPts val="0"/>
              </a:spcBef>
              <a:buNone/>
              <a:defRPr b="1" i="0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2700">
              <a:lnSpc>
                <a:spcPct val="103333"/>
              </a:lnSpc>
              <a:spcBef>
                <a:spcPts val="0"/>
              </a:spcBef>
              <a:buNone/>
              <a:defRPr b="1" i="0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2700">
              <a:lnSpc>
                <a:spcPct val="103333"/>
              </a:lnSpc>
              <a:spcBef>
                <a:spcPts val="0"/>
              </a:spcBef>
              <a:buNone/>
              <a:defRPr b="1" i="0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12700">
              <a:lnSpc>
                <a:spcPct val="103333"/>
              </a:lnSpc>
              <a:spcBef>
                <a:spcPts val="0"/>
              </a:spcBef>
              <a:buNone/>
              <a:defRPr b="1" i="0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12700">
              <a:lnSpc>
                <a:spcPct val="103333"/>
              </a:lnSpc>
              <a:spcBef>
                <a:spcPts val="0"/>
              </a:spcBef>
              <a:buNone/>
              <a:defRPr b="1" i="0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12700">
              <a:lnSpc>
                <a:spcPct val="103333"/>
              </a:lnSpc>
              <a:spcBef>
                <a:spcPts val="0"/>
              </a:spcBef>
              <a:buNone/>
              <a:defRPr b="1" i="0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12700">
              <a:lnSpc>
                <a:spcPct val="103333"/>
              </a:lnSpc>
              <a:spcBef>
                <a:spcPts val="0"/>
              </a:spcBef>
              <a:buNone/>
              <a:defRPr b="1" i="0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1270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5.png"/><Relationship Id="rId3" Type="http://schemas.openxmlformats.org/officeDocument/2006/relationships/image" Target="../media/image2.jpg"/><Relationship Id="rId4" Type="http://schemas.openxmlformats.org/officeDocument/2006/relationships/image" Target="../media/image3.jpg"/><Relationship Id="rId10" Type="http://schemas.openxmlformats.org/officeDocument/2006/relationships/theme" Target="../theme/theme1.xml"/><Relationship Id="rId9" Type="http://schemas.openxmlformats.org/officeDocument/2006/relationships/slideLayout" Target="../slideLayouts/slideLayout5.xml"/><Relationship Id="rId5" Type="http://schemas.openxmlformats.org/officeDocument/2006/relationships/slideLayout" Target="../slideLayouts/slideLayout1.xml"/><Relationship Id="rId6" Type="http://schemas.openxmlformats.org/officeDocument/2006/relationships/slideLayout" Target="../slideLayouts/slideLayout2.xml"/><Relationship Id="rId7" Type="http://schemas.openxmlformats.org/officeDocument/2006/relationships/slideLayout" Target="../slideLayouts/slideLayout3.xml"/><Relationship Id="rId8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/>
          <p:nvPr/>
        </p:nvSpPr>
        <p:spPr>
          <a:xfrm>
            <a:off x="0" y="0"/>
            <a:ext cx="9144000" cy="838200"/>
          </a:xfrm>
          <a:custGeom>
            <a:rect b="b" l="l" r="r" t="t"/>
            <a:pathLst>
              <a:path extrusionOk="0" h="838200" w="9144000">
                <a:moveTo>
                  <a:pt x="9144000" y="0"/>
                </a:moveTo>
                <a:lnTo>
                  <a:pt x="0" y="0"/>
                </a:lnTo>
                <a:lnTo>
                  <a:pt x="0" y="838200"/>
                </a:lnTo>
                <a:lnTo>
                  <a:pt x="9144000" y="838200"/>
                </a:lnTo>
                <a:lnTo>
                  <a:pt x="9144000" y="0"/>
                </a:lnTo>
                <a:close/>
              </a:path>
            </a:pathLst>
          </a:custGeom>
          <a:solidFill>
            <a:srgbClr val="FF33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pic>
        <p:nvPicPr>
          <p:cNvPr id="7" name="Google Shape;7;p1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0" y="6696455"/>
            <a:ext cx="9142476" cy="160020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Google Shape;8;p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553199" y="228600"/>
            <a:ext cx="2057400" cy="633984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Google Shape;9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53199" y="228600"/>
            <a:ext cx="1920240" cy="609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Google Shape;10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553199" y="228600"/>
            <a:ext cx="2057400" cy="633984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1"/>
          <p:cNvSpPr/>
          <p:nvPr/>
        </p:nvSpPr>
        <p:spPr>
          <a:xfrm>
            <a:off x="6147815" y="0"/>
            <a:ext cx="2996565" cy="838200"/>
          </a:xfrm>
          <a:custGeom>
            <a:rect b="b" l="l" r="r" t="t"/>
            <a:pathLst>
              <a:path extrusionOk="0" h="838200" w="2996565">
                <a:moveTo>
                  <a:pt x="2996184" y="0"/>
                </a:moveTo>
                <a:lnTo>
                  <a:pt x="0" y="0"/>
                </a:lnTo>
                <a:lnTo>
                  <a:pt x="0" y="838200"/>
                </a:lnTo>
                <a:lnTo>
                  <a:pt x="2996184" y="838200"/>
                </a:lnTo>
                <a:lnTo>
                  <a:pt x="2996184" y="0"/>
                </a:lnTo>
                <a:close/>
              </a:path>
            </a:pathLst>
          </a:custGeom>
          <a:solidFill>
            <a:srgbClr val="FF33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pic>
        <p:nvPicPr>
          <p:cNvPr id="12" name="Google Shape;12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553199" y="228600"/>
            <a:ext cx="2057400" cy="633984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Google Shape;13;p1"/>
          <p:cNvSpPr/>
          <p:nvPr/>
        </p:nvSpPr>
        <p:spPr>
          <a:xfrm>
            <a:off x="6528815" y="188976"/>
            <a:ext cx="2075814" cy="685800"/>
          </a:xfrm>
          <a:custGeom>
            <a:rect b="b" l="l" r="r" t="t"/>
            <a:pathLst>
              <a:path extrusionOk="0" h="685800" w="2075815">
                <a:moveTo>
                  <a:pt x="2075687" y="0"/>
                </a:moveTo>
                <a:lnTo>
                  <a:pt x="0" y="0"/>
                </a:lnTo>
                <a:lnTo>
                  <a:pt x="0" y="685800"/>
                </a:lnTo>
                <a:lnTo>
                  <a:pt x="2075687" y="685800"/>
                </a:lnTo>
                <a:lnTo>
                  <a:pt x="2075687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pic>
        <p:nvPicPr>
          <p:cNvPr id="14" name="Google Shape;14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53199" y="228600"/>
            <a:ext cx="1920240" cy="60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5" name="Google Shape;15;p1"/>
          <p:cNvSpPr txBox="1"/>
          <p:nvPr>
            <p:ph type="title"/>
          </p:nvPr>
        </p:nvSpPr>
        <p:spPr>
          <a:xfrm>
            <a:off x="1367789" y="150063"/>
            <a:ext cx="4161790" cy="5124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6" name="Google Shape;16;p1"/>
          <p:cNvSpPr txBox="1"/>
          <p:nvPr>
            <p:ph idx="1" type="body"/>
          </p:nvPr>
        </p:nvSpPr>
        <p:spPr>
          <a:xfrm>
            <a:off x="304901" y="1175872"/>
            <a:ext cx="8612505" cy="4657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7" name="Google Shape;17;p1"/>
          <p:cNvSpPr txBox="1"/>
          <p:nvPr>
            <p:ph idx="11" type="ftr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8" name="Google Shape;18;p1"/>
          <p:cNvSpPr txBox="1"/>
          <p:nvPr>
            <p:ph idx="10" type="dt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9" name="Google Shape;19;p1"/>
          <p:cNvSpPr txBox="1"/>
          <p:nvPr>
            <p:ph idx="12" type="sldNum"/>
          </p:nvPr>
        </p:nvSpPr>
        <p:spPr>
          <a:xfrm>
            <a:off x="8433054" y="6466738"/>
            <a:ext cx="215900" cy="17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12700">
              <a:lnSpc>
                <a:spcPct val="103333"/>
              </a:lnSpc>
              <a:spcBef>
                <a:spcPts val="0"/>
              </a:spcBef>
              <a:buNone/>
              <a:defRPr b="1" i="0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12700">
              <a:lnSpc>
                <a:spcPct val="103333"/>
              </a:lnSpc>
              <a:spcBef>
                <a:spcPts val="0"/>
              </a:spcBef>
              <a:buNone/>
              <a:defRPr b="1" i="0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12700">
              <a:lnSpc>
                <a:spcPct val="103333"/>
              </a:lnSpc>
              <a:spcBef>
                <a:spcPts val="0"/>
              </a:spcBef>
              <a:buNone/>
              <a:defRPr b="1" i="0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2700">
              <a:lnSpc>
                <a:spcPct val="103333"/>
              </a:lnSpc>
              <a:spcBef>
                <a:spcPts val="0"/>
              </a:spcBef>
              <a:buNone/>
              <a:defRPr b="1" i="0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2700">
              <a:lnSpc>
                <a:spcPct val="103333"/>
              </a:lnSpc>
              <a:spcBef>
                <a:spcPts val="0"/>
              </a:spcBef>
              <a:buNone/>
              <a:defRPr b="1" i="0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12700">
              <a:lnSpc>
                <a:spcPct val="103333"/>
              </a:lnSpc>
              <a:spcBef>
                <a:spcPts val="0"/>
              </a:spcBef>
              <a:buNone/>
              <a:defRPr b="1" i="0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12700">
              <a:lnSpc>
                <a:spcPct val="103333"/>
              </a:lnSpc>
              <a:spcBef>
                <a:spcPts val="0"/>
              </a:spcBef>
              <a:buNone/>
              <a:defRPr b="1" i="0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12700">
              <a:lnSpc>
                <a:spcPct val="103333"/>
              </a:lnSpc>
              <a:spcBef>
                <a:spcPts val="0"/>
              </a:spcBef>
              <a:buNone/>
              <a:defRPr b="1" i="0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12700">
              <a:lnSpc>
                <a:spcPct val="103333"/>
              </a:lnSpc>
              <a:spcBef>
                <a:spcPts val="0"/>
              </a:spcBef>
              <a:buNone/>
              <a:defRPr b="1" i="0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1270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5"/>
    <p:sldLayoutId id="2147483649" r:id="rId6"/>
    <p:sldLayoutId id="2147483650" r:id="rId7"/>
    <p:sldLayoutId id="2147483651" r:id="rId8"/>
    <p:sldLayoutId id="2147483652" r:id="rId9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7"/>
          <p:cNvSpPr txBox="1"/>
          <p:nvPr/>
        </p:nvSpPr>
        <p:spPr>
          <a:xfrm>
            <a:off x="1822830" y="824432"/>
            <a:ext cx="5499100" cy="695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650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>
                <a:latin typeface="Times New Roman"/>
                <a:ea typeface="Times New Roman"/>
                <a:cs typeface="Times New Roman"/>
                <a:sym typeface="Times New Roman"/>
              </a:rPr>
              <a:t>Project Presentation of Company Oriented Project </a:t>
            </a:r>
            <a:r>
              <a:rPr lang="en-IN" sz="1800">
                <a:latin typeface="Arial"/>
                <a:ea typeface="Arial"/>
                <a:cs typeface="Arial"/>
                <a:sym typeface="Arial"/>
              </a:rPr>
              <a:t>(COOP)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0" lvl="0" marL="635" rtl="0" algn="ctr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None/>
            </a:pPr>
            <a:r>
              <a:rPr lang="en-IN" sz="2000">
                <a:latin typeface="Times New Roman"/>
                <a:ea typeface="Times New Roman"/>
                <a:cs typeface="Times New Roman"/>
                <a:sym typeface="Times New Roman"/>
              </a:rPr>
              <a:t>On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3" name="Google Shape;53;p7"/>
          <p:cNvSpPr txBox="1"/>
          <p:nvPr>
            <p:ph type="title"/>
          </p:nvPr>
        </p:nvSpPr>
        <p:spPr>
          <a:xfrm>
            <a:off x="-555267" y="1600200"/>
            <a:ext cx="10251900" cy="4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95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2700"/>
              <a:t>Performance Comparison of REST and GraphQL APIs</a:t>
            </a:r>
            <a:endParaRPr sz="2700"/>
          </a:p>
        </p:txBody>
      </p:sp>
      <p:sp>
        <p:nvSpPr>
          <p:cNvPr id="54" name="Google Shape;54;p7"/>
          <p:cNvSpPr txBox="1"/>
          <p:nvPr/>
        </p:nvSpPr>
        <p:spPr>
          <a:xfrm>
            <a:off x="1444877" y="2778519"/>
            <a:ext cx="6251700" cy="36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5400">
            <a:spAutoFit/>
          </a:bodyPr>
          <a:lstStyle/>
          <a:p>
            <a:pPr indent="0" lvl="0" marL="4445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000">
                <a:latin typeface="Times New Roman"/>
                <a:ea typeface="Times New Roman"/>
                <a:cs typeface="Times New Roman"/>
                <a:sym typeface="Times New Roman"/>
              </a:rPr>
              <a:t>Name:         		                           Roll No:</a:t>
            </a:r>
            <a:endParaRPr/>
          </a:p>
          <a:p>
            <a:pPr indent="0" lvl="0" marL="4445" rtl="0" algn="l">
              <a:spcBef>
                <a:spcPts val="515"/>
              </a:spcBef>
              <a:spcAft>
                <a:spcPts val="0"/>
              </a:spcAft>
              <a:buNone/>
            </a:pPr>
            <a:r>
              <a:rPr lang="en-IN" sz="2000">
                <a:latin typeface="Times New Roman"/>
                <a:ea typeface="Times New Roman"/>
                <a:cs typeface="Times New Roman"/>
                <a:sym typeface="Times New Roman"/>
              </a:rPr>
              <a:t>Tritiya</a:t>
            </a:r>
            <a:r>
              <a:rPr lang="en-IN" sz="2000">
                <a:latin typeface="Times New Roman"/>
                <a:ea typeface="Times New Roman"/>
                <a:cs typeface="Times New Roman"/>
                <a:sym typeface="Times New Roman"/>
              </a:rPr>
              <a:t> Kumari                                2210990914</a:t>
            </a:r>
            <a:br>
              <a:rPr lang="en-IN" sz="2000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IN" sz="2000">
                <a:latin typeface="Times New Roman"/>
                <a:ea typeface="Times New Roman"/>
                <a:cs typeface="Times New Roman"/>
                <a:sym typeface="Times New Roman"/>
              </a:rPr>
              <a:t>Swapnil Dhamija                            2210990881</a:t>
            </a:r>
            <a:br>
              <a:rPr lang="en-IN" sz="2000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IN" sz="2000">
                <a:latin typeface="Times New Roman"/>
                <a:ea typeface="Times New Roman"/>
                <a:cs typeface="Times New Roman"/>
                <a:sym typeface="Times New Roman"/>
              </a:rPr>
              <a:t>Gopal Krishna Shrivastava             2210990327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89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8890" rtl="0" algn="ctr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None/>
            </a:pPr>
            <a:r>
              <a:rPr lang="en-IN" sz="2000">
                <a:latin typeface="Times New Roman"/>
                <a:ea typeface="Times New Roman"/>
                <a:cs typeface="Times New Roman"/>
                <a:sym typeface="Times New Roman"/>
              </a:rPr>
              <a:t>Supervised By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000">
                <a:latin typeface="Times New Roman"/>
                <a:ea typeface="Times New Roman"/>
                <a:cs typeface="Times New Roman"/>
                <a:sym typeface="Times New Roman"/>
              </a:rPr>
              <a:t>Dr. Anshu Singla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975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2065" marR="5080" rtl="0" algn="ctr">
              <a:lnSpc>
                <a:spcPct val="1143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400">
                <a:latin typeface="Times New Roman"/>
                <a:ea typeface="Times New Roman"/>
                <a:cs typeface="Times New Roman"/>
                <a:sym typeface="Times New Roman"/>
              </a:rPr>
              <a:t>Department of Computer Science and Engineering, Chitkara University, Punjab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8"/>
          <p:cNvSpPr txBox="1"/>
          <p:nvPr>
            <p:ph type="title"/>
          </p:nvPr>
        </p:nvSpPr>
        <p:spPr>
          <a:xfrm>
            <a:off x="-533400" y="278667"/>
            <a:ext cx="4804500" cy="50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67246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3200"/>
              <a:t>Introduction</a:t>
            </a:r>
            <a:endParaRPr sz="3200"/>
          </a:p>
        </p:txBody>
      </p:sp>
      <p:sp>
        <p:nvSpPr>
          <p:cNvPr id="60" name="Google Shape;60;p8"/>
          <p:cNvSpPr txBox="1"/>
          <p:nvPr>
            <p:ph idx="12" type="sldNum"/>
          </p:nvPr>
        </p:nvSpPr>
        <p:spPr>
          <a:xfrm>
            <a:off x="8433054" y="6466738"/>
            <a:ext cx="215900" cy="17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61" name="Google Shape;61;p8"/>
          <p:cNvSpPr txBox="1"/>
          <p:nvPr/>
        </p:nvSpPr>
        <p:spPr>
          <a:xfrm>
            <a:off x="152400" y="914400"/>
            <a:ext cx="8609400" cy="519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7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•"/>
            </a:pPr>
            <a:r>
              <a:rPr lang="en-IN" sz="1600"/>
              <a:t>Application Programming Interfaces (APIs) are the backbone of modern distributed systems, enabling seamless communication between client applications and backend services across networks.</a:t>
            </a:r>
            <a:endParaRPr sz="16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•"/>
            </a:pPr>
            <a:r>
              <a:rPr lang="en-IN" sz="1600"/>
              <a:t>REST has been the dominant architectural style due to its simplicity, stateless nature, and compatibility with HTTP standards.</a:t>
            </a:r>
            <a:endParaRPr sz="16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•"/>
            </a:pPr>
            <a:r>
              <a:rPr lang="en-IN" sz="1600"/>
              <a:t>GraphQL, introduced by Meta Platforms in 2015, allows clients to request only the exact data they need, improving flexibility.</a:t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1600"/>
              <a:t> Problem Statement:</a:t>
            </a:r>
            <a:br>
              <a:rPr b="1" lang="en-IN" sz="1600"/>
            </a:b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•"/>
            </a:pPr>
            <a:r>
              <a:rPr lang="en-IN" sz="1600"/>
              <a:t>REST often leads to over-fetching or multiple API calls, increasing network overhead, while GraphQL introduces higher computational complexity on the server. </a:t>
            </a:r>
            <a:endParaRPr sz="16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/>
              <a:t> </a:t>
            </a:r>
            <a:br>
              <a:rPr lang="en-IN" sz="1600"/>
            </a:br>
            <a:endParaRPr sz="16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9"/>
          <p:cNvSpPr txBox="1"/>
          <p:nvPr>
            <p:ph type="title"/>
          </p:nvPr>
        </p:nvSpPr>
        <p:spPr>
          <a:xfrm>
            <a:off x="-533400" y="336229"/>
            <a:ext cx="3399790" cy="47448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89471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Objective</a:t>
            </a:r>
            <a:endParaRPr/>
          </a:p>
        </p:txBody>
      </p:sp>
      <p:sp>
        <p:nvSpPr>
          <p:cNvPr id="67" name="Google Shape;67;p9"/>
          <p:cNvSpPr txBox="1"/>
          <p:nvPr>
            <p:ph idx="12" type="sldNum"/>
          </p:nvPr>
        </p:nvSpPr>
        <p:spPr>
          <a:xfrm>
            <a:off x="8433054" y="6466738"/>
            <a:ext cx="215900" cy="17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68" name="Google Shape;68;p9"/>
          <p:cNvSpPr/>
          <p:nvPr/>
        </p:nvSpPr>
        <p:spPr>
          <a:xfrm>
            <a:off x="114300" y="923327"/>
            <a:ext cx="8915400" cy="563231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b="1" lang="en-IN" sz="1800"/>
              <a:t>Primary </a:t>
            </a:r>
            <a:r>
              <a:rPr b="1" i="0" lang="en-IN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Goal: </a:t>
            </a:r>
            <a:endParaRPr b="1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/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IN" sz="1800"/>
              <a:t>Evaluate REST vs GraphQL performance under variable load </a:t>
            </a:r>
            <a:endParaRPr sz="18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b="1" i="0" lang="en-IN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Key </a:t>
            </a:r>
            <a:r>
              <a:rPr b="1" lang="en-IN" sz="1800"/>
              <a:t>Metrics</a:t>
            </a:r>
            <a:r>
              <a:rPr b="1" i="0" lang="en-IN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br>
              <a:rPr b="1" i="0" lang="en-IN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IN" sz="1800">
                <a:solidFill>
                  <a:schemeClr val="dk1"/>
                </a:solidFill>
              </a:rPr>
              <a:t>Latency (response time under load)</a:t>
            </a:r>
            <a:endParaRPr sz="1800">
              <a:solidFill>
                <a:schemeClr val="dk1"/>
              </a:solidFill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IN" sz="1800">
                <a:solidFill>
                  <a:schemeClr val="dk1"/>
                </a:solidFill>
              </a:rPr>
              <a:t>Throughput (requests per second handled)</a:t>
            </a:r>
            <a:endParaRPr sz="1800">
              <a:solidFill>
                <a:schemeClr val="dk1"/>
              </a:solidFill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IN" sz="1800">
                <a:solidFill>
                  <a:schemeClr val="dk1"/>
                </a:solidFill>
              </a:rPr>
              <a:t>Payload size (data transferred)</a:t>
            </a:r>
            <a:endParaRPr sz="1800">
              <a:solidFill>
                <a:schemeClr val="dk1"/>
              </a:solidFill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IN" sz="1800">
                <a:solidFill>
                  <a:schemeClr val="dk1"/>
                </a:solidFill>
              </a:rPr>
              <a:t>CPU and memory utilization</a:t>
            </a:r>
            <a:endParaRPr sz="1800">
              <a:solidFill>
                <a:schemeClr val="dk1"/>
              </a:solidFill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IN" sz="1800">
                <a:solidFill>
                  <a:schemeClr val="dk1"/>
                </a:solidFill>
              </a:rPr>
              <a:t>The study focuses on identifying trade-offs between </a:t>
            </a:r>
            <a:r>
              <a:rPr b="1" lang="en-IN" sz="1800">
                <a:solidFill>
                  <a:schemeClr val="dk1"/>
                </a:solidFill>
              </a:rPr>
              <a:t>network efficiency and server performance</a:t>
            </a:r>
            <a:r>
              <a:rPr lang="en-IN" sz="1800">
                <a:solidFill>
                  <a:schemeClr val="dk1"/>
                </a:solidFill>
              </a:rPr>
              <a:t>.</a:t>
            </a:r>
            <a:endParaRPr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b="1" i="0" lang="en-IN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Analysis Approach:</a:t>
            </a:r>
            <a:endParaRPr/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IN" sz="1800"/>
              <a:t>Trade-off between:</a:t>
            </a:r>
            <a:endParaRPr sz="1800"/>
          </a:p>
          <a:p>
            <a:pPr indent="-298450" lvl="0" marL="914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IN" sz="1800"/>
              <a:t>Network efficiency</a:t>
            </a:r>
            <a:endParaRPr sz="1800"/>
          </a:p>
          <a:p>
            <a:pPr indent="-29845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IN" sz="1800"/>
              <a:t>Server performance</a:t>
            </a:r>
            <a:endParaRPr sz="1800"/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0"/>
          <p:cNvSpPr txBox="1"/>
          <p:nvPr>
            <p:ph type="title"/>
          </p:nvPr>
        </p:nvSpPr>
        <p:spPr>
          <a:xfrm>
            <a:off x="-685800" y="304800"/>
            <a:ext cx="4161900" cy="47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89471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Literature Review</a:t>
            </a:r>
            <a:endParaRPr/>
          </a:p>
        </p:txBody>
      </p:sp>
      <p:sp>
        <p:nvSpPr>
          <p:cNvPr id="74" name="Google Shape;74;p10"/>
          <p:cNvSpPr txBox="1"/>
          <p:nvPr>
            <p:ph idx="12" type="sldNum"/>
          </p:nvPr>
        </p:nvSpPr>
        <p:spPr>
          <a:xfrm>
            <a:off x="8433054" y="6466738"/>
            <a:ext cx="215900" cy="17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75" name="Google Shape;75;p10"/>
          <p:cNvSpPr/>
          <p:nvPr/>
        </p:nvSpPr>
        <p:spPr>
          <a:xfrm>
            <a:off x="76201" y="921187"/>
            <a:ext cx="8824344" cy="550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1600">
                <a:latin typeface="Times New Roman"/>
                <a:ea typeface="Times New Roman"/>
                <a:cs typeface="Times New Roman"/>
                <a:sym typeface="Times New Roman"/>
              </a:rPr>
              <a:t>Re</a:t>
            </a:r>
            <a:r>
              <a:rPr b="1" lang="en-IN" sz="1600">
                <a:latin typeface="Times New Roman"/>
                <a:ea typeface="Times New Roman"/>
                <a:cs typeface="Times New Roman"/>
                <a:sym typeface="Times New Roman"/>
              </a:rPr>
              <a:t>searc</a:t>
            </a:r>
            <a:r>
              <a:rPr b="1" lang="en-IN" sz="1600">
                <a:latin typeface="Times New Roman"/>
                <a:ea typeface="Times New Roman"/>
                <a:cs typeface="Times New Roman"/>
                <a:sym typeface="Times New Roman"/>
              </a:rPr>
              <a:t>h Design</a:t>
            </a:r>
            <a:endParaRPr b="1"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en-IN" sz="1600">
                <a:latin typeface="Times New Roman"/>
                <a:ea typeface="Times New Roman"/>
                <a:cs typeface="Times New Roman"/>
                <a:sym typeface="Times New Roman"/>
              </a:rPr>
              <a:t>Existing research shows that REST performs efficiently for simple CRUD operations because each endpoint is tightly coupled with specific database queries, resulting in a straightforward and predictable execution flow.</a:t>
            </a:r>
            <a:br>
              <a:rPr lang="en-IN" sz="1600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IN" sz="1600">
                <a:latin typeface="Times New Roman"/>
                <a:ea typeface="Times New Roman"/>
                <a:cs typeface="Times New Roman"/>
                <a:sym typeface="Times New Roman"/>
              </a:rPr>
              <a:t> This direct mapping reduces processing overhead and enables faster response times, especially in high-throughput systems.</a:t>
            </a:r>
            <a:br>
              <a:rPr lang="en-IN" sz="1600"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en-IN" sz="1600">
                <a:latin typeface="Times New Roman"/>
                <a:ea typeface="Times New Roman"/>
                <a:cs typeface="Times New Roman"/>
                <a:sym typeface="Times New Roman"/>
              </a:rPr>
              <a:t>GraphQL improves data-fetching efficiency by allowing clients to request only the exact fields they need, thereby eliminating both over-fetching and under-fetching issues.</a:t>
            </a:r>
            <a:br>
              <a:rPr lang="en-IN" sz="1600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IN" sz="1600">
                <a:latin typeface="Times New Roman"/>
                <a:ea typeface="Times New Roman"/>
                <a:cs typeface="Times New Roman"/>
                <a:sym typeface="Times New Roman"/>
              </a:rPr>
              <a:t> It also consolidates multiple related data requests into a single API call, reducing network round trips and improving client-side performance in complex scenarios.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b="1" lang="en-IN" sz="1600">
                <a:solidFill>
                  <a:schemeClr val="dk1"/>
                </a:solidFill>
              </a:rPr>
              <a:t>Challenges Identified:</a:t>
            </a:r>
            <a:endParaRPr b="1"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-IN" sz="1600">
                <a:solidFill>
                  <a:schemeClr val="dk1"/>
                </a:solidFill>
              </a:rPr>
              <a:t>REST suffers from redundant data transfer and multiple round trips, whereas GraphQL introduces overhead due to query parsing, validation, and resolver execution</a:t>
            </a:r>
            <a:endParaRPr sz="18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1"/>
          <p:cNvSpPr txBox="1"/>
          <p:nvPr>
            <p:ph type="title"/>
          </p:nvPr>
        </p:nvSpPr>
        <p:spPr>
          <a:xfrm>
            <a:off x="-457200" y="304800"/>
            <a:ext cx="6042600" cy="47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89471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Methodology – Tech Stack</a:t>
            </a:r>
            <a:endParaRPr/>
          </a:p>
        </p:txBody>
      </p:sp>
      <p:sp>
        <p:nvSpPr>
          <p:cNvPr id="81" name="Google Shape;81;p11"/>
          <p:cNvSpPr txBox="1"/>
          <p:nvPr>
            <p:ph idx="12" type="sldNum"/>
          </p:nvPr>
        </p:nvSpPr>
        <p:spPr>
          <a:xfrm>
            <a:off x="8433054" y="6466738"/>
            <a:ext cx="215900" cy="17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82" name="Google Shape;82;p11"/>
          <p:cNvSpPr txBox="1"/>
          <p:nvPr/>
        </p:nvSpPr>
        <p:spPr>
          <a:xfrm>
            <a:off x="190500" y="1143000"/>
            <a:ext cx="8763000" cy="4974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-IN" sz="1600"/>
              <a:t>To ensure a fair and unbiased comparison, both REST and GraphQL APIs were implemented using the same backend technology stack and identical database schema.</a:t>
            </a:r>
            <a:br>
              <a:rPr lang="en-IN" sz="1600"/>
            </a:b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-IN" sz="1600"/>
              <a:t>This ensured that differences in performance were due to architecture rather than implementation.</a:t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600"/>
              <a:buFont typeface="Arial"/>
              <a:buNone/>
            </a:pPr>
            <a:br>
              <a:rPr lang="en-IN" sz="1600"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IN" sz="1600">
                <a:solidFill>
                  <a:schemeClr val="dk1"/>
                </a:solidFill>
              </a:rPr>
              <a:t>Technology Used:</a:t>
            </a:r>
            <a:endParaRPr b="1"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-IN" sz="1600">
                <a:solidFill>
                  <a:schemeClr val="dk1"/>
                </a:solidFill>
              </a:rPr>
              <a:t>Runtime: Node.js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-IN" sz="1600">
                <a:solidFill>
                  <a:schemeClr val="dk1"/>
                </a:solidFill>
              </a:rPr>
              <a:t>REST Framework: Express.js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-IN" sz="1600">
                <a:solidFill>
                  <a:schemeClr val="dk1"/>
                </a:solidFill>
              </a:rPr>
              <a:t>GraphQL Framework: Apollo Server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-IN" sz="1600">
                <a:solidFill>
                  <a:schemeClr val="dk1"/>
                </a:solidFill>
              </a:rPr>
              <a:t>Database: PostgreSQL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-IN" sz="1600">
                <a:solidFill>
                  <a:schemeClr val="dk1"/>
                </a:solidFill>
              </a:rPr>
              <a:t>Both APIs were deployed on identical AWS EC2 instances to eliminate infrastructure-level variability and maintain consistency in testing conditions.</a:t>
            </a:r>
            <a:endParaRPr sz="16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2"/>
          <p:cNvSpPr txBox="1"/>
          <p:nvPr>
            <p:ph type="title"/>
          </p:nvPr>
        </p:nvSpPr>
        <p:spPr>
          <a:xfrm>
            <a:off x="76200" y="381000"/>
            <a:ext cx="64770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SzPts val="1100"/>
              <a:buNone/>
            </a:pPr>
            <a:r>
              <a:rPr b="1" lang="en-IN" sz="2100">
                <a:latin typeface="Arial"/>
                <a:ea typeface="Arial"/>
                <a:cs typeface="Arial"/>
                <a:sym typeface="Arial"/>
              </a:rPr>
              <a:t> Methodology – Testing Design</a:t>
            </a:r>
            <a:endParaRPr sz="2600"/>
          </a:p>
        </p:txBody>
      </p:sp>
      <p:sp>
        <p:nvSpPr>
          <p:cNvPr id="88" name="Google Shape;88;p12"/>
          <p:cNvSpPr txBox="1"/>
          <p:nvPr/>
        </p:nvSpPr>
        <p:spPr>
          <a:xfrm>
            <a:off x="346000" y="1371600"/>
            <a:ext cx="8155500" cy="464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-IN" sz="1600">
                <a:solidFill>
                  <a:schemeClr val="dk1"/>
                </a:solidFill>
              </a:rPr>
              <a:t>The experiment was structured to simulate real-world scenarios by defining multiple levels of query complexity, each representing increasing computational demand.</a:t>
            </a:r>
            <a:br>
              <a:rPr lang="en-IN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IN" sz="1600">
                <a:solidFill>
                  <a:schemeClr val="dk1"/>
                </a:solidFill>
              </a:rPr>
              <a:t>Query Complexity Levels:</a:t>
            </a:r>
            <a:endParaRPr b="1"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-IN" sz="1600">
                <a:solidFill>
                  <a:schemeClr val="dk1"/>
                </a:solidFill>
              </a:rPr>
              <a:t>Shallow: Simple single-table queries with minimal processing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-IN" sz="1600">
                <a:solidFill>
                  <a:schemeClr val="dk1"/>
                </a:solidFill>
              </a:rPr>
              <a:t>Relational: Queries involving joins between related entities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-IN" sz="1600">
                <a:solidFill>
                  <a:schemeClr val="dk1"/>
                </a:solidFill>
              </a:rPr>
              <a:t>Deeply Nested: Complex queries spanning multiple relationships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-IN" sz="1600">
                <a:solidFill>
                  <a:schemeClr val="dk1"/>
                </a:solidFill>
              </a:rPr>
              <a:t>Load testing was conducted using Apache JMeter and Grafana k6, with user loads ranging from 100 to over 2000 concurrent users.</a:t>
            </a:r>
            <a:br>
              <a:rPr lang="en-IN" sz="1600">
                <a:solidFill>
                  <a:schemeClr val="dk1"/>
                </a:solidFill>
              </a:rPr>
            </a:br>
            <a:r>
              <a:rPr lang="en-IN" sz="1600">
                <a:solidFill>
                  <a:schemeClr val="dk1"/>
                </a:solidFill>
              </a:rPr>
              <a:t> This allowed analysis of both baseline performance and system behavior under stress conditions.</a:t>
            </a:r>
            <a:endParaRPr sz="16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3"/>
          <p:cNvSpPr txBox="1"/>
          <p:nvPr>
            <p:ph type="title"/>
          </p:nvPr>
        </p:nvSpPr>
        <p:spPr>
          <a:xfrm>
            <a:off x="-685800" y="292741"/>
            <a:ext cx="4843779" cy="47448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89471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Results</a:t>
            </a:r>
            <a:endParaRPr/>
          </a:p>
        </p:txBody>
      </p:sp>
      <p:sp>
        <p:nvSpPr>
          <p:cNvPr id="94" name="Google Shape;94;p13"/>
          <p:cNvSpPr txBox="1"/>
          <p:nvPr>
            <p:ph idx="12" type="sldNum"/>
          </p:nvPr>
        </p:nvSpPr>
        <p:spPr>
          <a:xfrm>
            <a:off x="8433054" y="6466738"/>
            <a:ext cx="215900" cy="17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95" name="Google Shape;95;p13"/>
          <p:cNvSpPr txBox="1"/>
          <p:nvPr>
            <p:ph idx="1" type="body"/>
          </p:nvPr>
        </p:nvSpPr>
        <p:spPr>
          <a:xfrm>
            <a:off x="152400" y="767230"/>
            <a:ext cx="8612400" cy="50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492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IN" sz="1600">
                <a:latin typeface="Arial"/>
                <a:ea typeface="Arial"/>
                <a:cs typeface="Arial"/>
                <a:sym typeface="Arial"/>
              </a:rPr>
              <a:t> </a:t>
            </a:r>
            <a:endParaRPr b="1" sz="16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IN" sz="1600">
                <a:latin typeface="Arial"/>
                <a:ea typeface="Arial"/>
                <a:cs typeface="Arial"/>
                <a:sym typeface="Arial"/>
              </a:rPr>
              <a:t>Latency &amp; Throughput</a:t>
            </a:r>
            <a:endParaRPr b="1" sz="1600"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-IN" sz="1600">
                <a:latin typeface="Arial"/>
                <a:ea typeface="Arial"/>
                <a:cs typeface="Arial"/>
                <a:sym typeface="Arial"/>
              </a:rPr>
              <a:t>Under low load conditions (100 users), both REST and GraphQL demonstrated comparable performance, with REST showing slightly lower latency due to minimal processing overhead.</a:t>
            </a:r>
            <a:br>
              <a:rPr lang="en-IN" sz="1600">
                <a:latin typeface="Arial"/>
                <a:ea typeface="Arial"/>
                <a:cs typeface="Arial"/>
                <a:sym typeface="Arial"/>
              </a:rPr>
            </a:b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-IN" sz="1600">
                <a:latin typeface="Arial"/>
                <a:ea typeface="Arial"/>
                <a:cs typeface="Arial"/>
                <a:sym typeface="Arial"/>
              </a:rPr>
              <a:t>As concurrency increased beyond 1000 users, REST maintained stable and predictable performance, achieving peak throughput of approximately 12,500 requests per second.</a:t>
            </a:r>
            <a:br>
              <a:rPr lang="en-IN" sz="1600">
                <a:latin typeface="Arial"/>
                <a:ea typeface="Arial"/>
                <a:cs typeface="Arial"/>
                <a:sym typeface="Arial"/>
              </a:rPr>
            </a:br>
            <a:r>
              <a:rPr lang="en-IN" sz="1600">
                <a:latin typeface="Arial"/>
                <a:ea typeface="Arial"/>
                <a:cs typeface="Arial"/>
                <a:sym typeface="Arial"/>
              </a:rPr>
              <a:t> Its linear processing model contributed to consistent scalability.</a:t>
            </a:r>
            <a:br>
              <a:rPr lang="en-IN" sz="1600">
                <a:latin typeface="Arial"/>
                <a:ea typeface="Arial"/>
                <a:cs typeface="Arial"/>
                <a:sym typeface="Arial"/>
              </a:rPr>
            </a:b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-IN" sz="1600">
                <a:latin typeface="Arial"/>
                <a:ea typeface="Arial"/>
                <a:cs typeface="Arial"/>
                <a:sym typeface="Arial"/>
              </a:rPr>
              <a:t>In contrast, GraphQL exhibited significant latency spikes (up to 1400 ms) and higher error rates due to CPU saturation caused by query parsing and resolver execution.</a:t>
            </a:r>
            <a:br>
              <a:rPr lang="en-IN" sz="1600">
                <a:latin typeface="Arial"/>
                <a:ea typeface="Arial"/>
                <a:cs typeface="Arial"/>
                <a:sym typeface="Arial"/>
              </a:rPr>
            </a:br>
            <a:r>
              <a:rPr lang="en-IN" sz="1600">
                <a:latin typeface="Arial"/>
                <a:ea typeface="Arial"/>
                <a:cs typeface="Arial"/>
                <a:sym typeface="Arial"/>
              </a:rPr>
              <a:t> This highlights its sensitivity to high concurrency.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4"/>
          <p:cNvSpPr txBox="1"/>
          <p:nvPr>
            <p:ph type="title"/>
          </p:nvPr>
        </p:nvSpPr>
        <p:spPr>
          <a:xfrm>
            <a:off x="-685800" y="304800"/>
            <a:ext cx="2670811" cy="47448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89471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Results</a:t>
            </a:r>
            <a:endParaRPr/>
          </a:p>
        </p:txBody>
      </p:sp>
      <p:sp>
        <p:nvSpPr>
          <p:cNvPr id="101" name="Google Shape;101;p14"/>
          <p:cNvSpPr txBox="1"/>
          <p:nvPr>
            <p:ph idx="12" type="sldNum"/>
          </p:nvPr>
        </p:nvSpPr>
        <p:spPr>
          <a:xfrm>
            <a:off x="8433054" y="6466738"/>
            <a:ext cx="215900" cy="17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102" name="Google Shape;102;p14"/>
          <p:cNvSpPr txBox="1"/>
          <p:nvPr/>
        </p:nvSpPr>
        <p:spPr>
          <a:xfrm>
            <a:off x="186945" y="838200"/>
            <a:ext cx="8354100" cy="664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492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IN" sz="1600">
                <a:solidFill>
                  <a:schemeClr val="dk1"/>
                </a:solidFill>
              </a:rPr>
              <a:t>Payload Efficiency</a:t>
            </a:r>
            <a:endParaRPr b="1"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-IN" sz="1600">
                <a:solidFill>
                  <a:schemeClr val="dk1"/>
                </a:solidFill>
              </a:rPr>
              <a:t>GraphQL significantly reduced payload sizes by allowing clients to fetch only the required fields instead of entire resource objects.</a:t>
            </a:r>
            <a:br>
              <a:rPr lang="en-IN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-IN" sz="1600">
                <a:solidFill>
                  <a:schemeClr val="dk1"/>
                </a:solidFill>
              </a:rPr>
              <a:t>This minimizes unnecessary data transfer and improves efficiency.</a:t>
            </a:r>
            <a:br>
              <a:rPr lang="en-IN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IN" sz="1600">
                <a:solidFill>
                  <a:schemeClr val="dk1"/>
                </a:solidFill>
              </a:rPr>
              <a:t>Measured Reduction:</a:t>
            </a:r>
            <a:endParaRPr b="1"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-IN" sz="1600">
                <a:solidFill>
                  <a:schemeClr val="dk1"/>
                </a:solidFill>
              </a:rPr>
              <a:t>Tier 1: ~66% reduction</a:t>
            </a:r>
            <a:br>
              <a:rPr lang="en-IN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-IN" sz="1600">
                <a:solidFill>
                  <a:schemeClr val="dk1"/>
                </a:solidFill>
              </a:rPr>
              <a:t>Tier 2: ~82% reduction</a:t>
            </a:r>
            <a:br>
              <a:rPr lang="en-IN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-IN" sz="1600">
                <a:solidFill>
                  <a:schemeClr val="dk1"/>
                </a:solidFill>
              </a:rPr>
              <a:t>Tier 3: ~88% reduction</a:t>
            </a:r>
            <a:br>
              <a:rPr lang="en-IN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-IN" sz="1600">
                <a:solidFill>
                  <a:schemeClr val="dk1"/>
                </a:solidFill>
              </a:rPr>
              <a:t>This makes GraphQL highly suitable for bandwidth-constrained environments like mobile applications. </a:t>
            </a:r>
            <a:endParaRPr sz="16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84150" lvl="0" marL="285750" rtl="0" algn="l">
              <a:spcBef>
                <a:spcPts val="0"/>
              </a:spcBef>
              <a:spcAft>
                <a:spcPts val="0"/>
              </a:spcAft>
              <a:buSzPts val="1600"/>
              <a:buFont typeface="Arial"/>
              <a:buNone/>
            </a:pPr>
            <a:r>
              <a:t/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2700" rtl="0" algn="just">
              <a:lnSpc>
                <a:spcPct val="100000"/>
              </a:lnSpc>
              <a:spcBef>
                <a:spcPts val="1175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5"/>
          <p:cNvSpPr txBox="1"/>
          <p:nvPr>
            <p:ph type="title"/>
          </p:nvPr>
        </p:nvSpPr>
        <p:spPr>
          <a:xfrm>
            <a:off x="76200" y="368588"/>
            <a:ext cx="4161790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Results</a:t>
            </a:r>
            <a:endParaRPr/>
          </a:p>
        </p:txBody>
      </p:sp>
      <p:sp>
        <p:nvSpPr>
          <p:cNvPr id="108" name="Google Shape;108;p15"/>
          <p:cNvSpPr txBox="1"/>
          <p:nvPr/>
        </p:nvSpPr>
        <p:spPr>
          <a:xfrm>
            <a:off x="333650" y="1099750"/>
            <a:ext cx="7241100" cy="427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IN" sz="1600">
                <a:solidFill>
                  <a:schemeClr val="dk1"/>
                </a:solidFill>
              </a:rPr>
              <a:t>Resource Utilization</a:t>
            </a:r>
            <a:endParaRPr b="1"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-IN" sz="1600">
                <a:solidFill>
                  <a:schemeClr val="dk1"/>
                </a:solidFill>
              </a:rPr>
              <a:t>REST demonstrated better efficiency in terms of CPU and memory usage, maintaining a stable and predictable resource consumption pattern even under heavy load.</a:t>
            </a:r>
            <a:br>
              <a:rPr lang="en-IN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IN" sz="1600">
                <a:solidFill>
                  <a:schemeClr val="dk1"/>
                </a:solidFill>
              </a:rPr>
              <a:t>System Utilization:</a:t>
            </a:r>
            <a:endParaRPr b="1"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-IN" sz="1600">
                <a:solidFill>
                  <a:schemeClr val="dk1"/>
                </a:solidFill>
              </a:rPr>
              <a:t>REST: ~62% CPU usage and ~88 MB memory</a:t>
            </a:r>
            <a:br>
              <a:rPr lang="en-IN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-IN" sz="1600">
                <a:solidFill>
                  <a:schemeClr val="dk1"/>
                </a:solidFill>
              </a:rPr>
              <a:t>GraphQL: ~94% CPU usage and ~142 MB memory</a:t>
            </a:r>
            <a:br>
              <a:rPr lang="en-IN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-IN" sz="1600">
                <a:solidFill>
                  <a:schemeClr val="dk1"/>
                </a:solidFill>
              </a:rPr>
              <a:t>A major performance bottleneck in GraphQL was the </a:t>
            </a:r>
            <a:r>
              <a:rPr b="1" lang="en-IN" sz="1600">
                <a:solidFill>
                  <a:schemeClr val="dk1"/>
                </a:solidFill>
              </a:rPr>
              <a:t>N+1 query problem</a:t>
            </a:r>
            <a:r>
              <a:rPr lang="en-IN" sz="1600">
                <a:solidFill>
                  <a:schemeClr val="dk1"/>
                </a:solidFill>
              </a:rPr>
              <a:t>, where multiple database calls are triggered for nested queries.</a:t>
            </a:r>
            <a:br>
              <a:rPr lang="en-IN" sz="1600">
                <a:solidFill>
                  <a:schemeClr val="dk1"/>
                </a:solidFill>
              </a:rPr>
            </a:br>
            <a:r>
              <a:rPr lang="en-IN" sz="1600">
                <a:solidFill>
                  <a:schemeClr val="dk1"/>
                </a:solidFill>
              </a:rPr>
              <a:t> This issue requires optimization techniques such as batching (e.g., DataLoader) to improve efficiency.</a:t>
            </a:r>
            <a:endParaRPr sz="16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16"/>
          <p:cNvSpPr txBox="1"/>
          <p:nvPr>
            <p:ph type="title"/>
          </p:nvPr>
        </p:nvSpPr>
        <p:spPr>
          <a:xfrm>
            <a:off x="-990600" y="381000"/>
            <a:ext cx="4161790" cy="5124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2745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Conclusion</a:t>
            </a:r>
            <a:endParaRPr/>
          </a:p>
        </p:txBody>
      </p:sp>
      <p:sp>
        <p:nvSpPr>
          <p:cNvPr id="114" name="Google Shape;114;p16"/>
          <p:cNvSpPr txBox="1"/>
          <p:nvPr>
            <p:ph idx="12" type="sldNum"/>
          </p:nvPr>
        </p:nvSpPr>
        <p:spPr>
          <a:xfrm>
            <a:off x="8433054" y="6466738"/>
            <a:ext cx="215900" cy="17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115" name="Google Shape;115;p16"/>
          <p:cNvSpPr txBox="1"/>
          <p:nvPr>
            <p:ph idx="1" type="body"/>
          </p:nvPr>
        </p:nvSpPr>
        <p:spPr>
          <a:xfrm>
            <a:off x="304901" y="1175872"/>
            <a:ext cx="8612400" cy="440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-3302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-IN" sz="1600">
                <a:latin typeface="Arial"/>
                <a:ea typeface="Arial"/>
                <a:cs typeface="Arial"/>
                <a:sym typeface="Arial"/>
              </a:rPr>
              <a:t>REST is well-suited for applications requiring high scalability, predictable performance, and efficient caching using standard HTTP mechanisms.</a:t>
            </a:r>
            <a:br>
              <a:rPr lang="en-IN" sz="1600">
                <a:latin typeface="Arial"/>
                <a:ea typeface="Arial"/>
                <a:cs typeface="Arial"/>
                <a:sym typeface="Arial"/>
              </a:rPr>
            </a:br>
            <a:r>
              <a:rPr lang="en-IN" sz="1600">
                <a:latin typeface="Arial"/>
                <a:ea typeface="Arial"/>
                <a:cs typeface="Arial"/>
                <a:sym typeface="Arial"/>
              </a:rPr>
              <a:t>It performs reliably under high traffic conditions with lower server overhead.</a:t>
            </a:r>
            <a:br>
              <a:rPr lang="en-IN" sz="1600">
                <a:latin typeface="Arial"/>
                <a:ea typeface="Arial"/>
                <a:cs typeface="Arial"/>
                <a:sym typeface="Arial"/>
              </a:rPr>
            </a:b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-IN" sz="1600">
                <a:latin typeface="Arial"/>
                <a:ea typeface="Arial"/>
                <a:cs typeface="Arial"/>
                <a:sym typeface="Arial"/>
              </a:rPr>
              <a:t>GraphQL is ideal for applications with complex data requirements, where minimizing payload size and enabling flexible data retrieval is critical.</a:t>
            </a:r>
            <a:br>
              <a:rPr lang="en-IN" sz="1600">
                <a:latin typeface="Arial"/>
                <a:ea typeface="Arial"/>
                <a:cs typeface="Arial"/>
                <a:sym typeface="Arial"/>
              </a:rPr>
            </a:br>
            <a:r>
              <a:rPr lang="en-IN" sz="1600">
                <a:latin typeface="Arial"/>
                <a:ea typeface="Arial"/>
                <a:cs typeface="Arial"/>
                <a:sym typeface="Arial"/>
              </a:rPr>
              <a:t>It provides significant advantages in frontend-driven development.</a:t>
            </a:r>
            <a:br>
              <a:rPr lang="en-IN" sz="1600">
                <a:latin typeface="Arial"/>
                <a:ea typeface="Arial"/>
                <a:cs typeface="Arial"/>
                <a:sym typeface="Arial"/>
              </a:rPr>
            </a:b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IN" sz="1600">
                <a:latin typeface="Arial"/>
                <a:ea typeface="Arial"/>
                <a:cs typeface="Arial"/>
                <a:sym typeface="Arial"/>
              </a:rPr>
              <a:t>Final Insight:</a:t>
            </a:r>
            <a:endParaRPr b="1" sz="1600"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-IN" sz="1600">
                <a:latin typeface="Arial"/>
                <a:ea typeface="Arial"/>
                <a:cs typeface="Arial"/>
                <a:sym typeface="Arial"/>
              </a:rPr>
              <a:t>REST excels in server efficiency and stability, while GraphQL excels in network efficiency and flexibility.</a:t>
            </a:r>
            <a:br>
              <a:rPr lang="en-IN" sz="1600">
                <a:latin typeface="Arial"/>
                <a:ea typeface="Arial"/>
                <a:cs typeface="Arial"/>
                <a:sym typeface="Arial"/>
              </a:rPr>
            </a:br>
            <a:r>
              <a:rPr lang="en-IN" sz="1600">
                <a:latin typeface="Arial"/>
                <a:ea typeface="Arial"/>
                <a:cs typeface="Arial"/>
                <a:sym typeface="Arial"/>
              </a:rPr>
              <a:t> The choice between the two should be based on specific application requirements rather than a universal preference.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0" lvl="0" marL="12700" marR="5080" rtl="0" algn="l">
              <a:lnSpc>
                <a:spcPct val="1501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7"/>
          <p:cNvSpPr txBox="1"/>
          <p:nvPr>
            <p:ph type="title"/>
          </p:nvPr>
        </p:nvSpPr>
        <p:spPr>
          <a:xfrm>
            <a:off x="3015048" y="3079825"/>
            <a:ext cx="4351200" cy="84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5400"/>
              <a:t>Thank You</a:t>
            </a:r>
            <a:endParaRPr sz="5400"/>
          </a:p>
        </p:txBody>
      </p:sp>
      <p:sp>
        <p:nvSpPr>
          <p:cNvPr id="121" name="Google Shape;121;p17"/>
          <p:cNvSpPr txBox="1"/>
          <p:nvPr>
            <p:ph idx="12" type="sldNum"/>
          </p:nvPr>
        </p:nvSpPr>
        <p:spPr>
          <a:xfrm>
            <a:off x="8433054" y="6466738"/>
            <a:ext cx="215900" cy="17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